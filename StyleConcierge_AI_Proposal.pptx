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97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914400"/>
            <a:ext cx="7680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474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32946"/>
                </a:solidFill>
                <a:latin typeface="Aptos"/>
              </a:rPr>
              <a:t>StyleConcierge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3523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3C3C3C"/>
                </a:solidFill>
                <a:latin typeface="Aptos"/>
              </a:rPr>
              <a:t>「在庫の偏り」を「セット買い」に変える、
次世代コーディネート補完AIのご提案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C7CFA"/>
                </a:solidFill>
                <a:latin typeface="Aptos"/>
              </a:rPr>
              <a:t>ブランド横断のコーディネート提案 × 自由記述検索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40212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32946"/>
                </a:solidFill>
                <a:latin typeface="Aptos"/>
              </a:rPr>
              <a:t>1. </a:t>
            </a:r>
            <a:r>
              <a:rPr sz="2800" b="1" dirty="0" err="1">
                <a:solidFill>
                  <a:srgbClr val="232946"/>
                </a:solidFill>
                <a:latin typeface="Aptos"/>
              </a:rPr>
              <a:t>現状の限界（課題</a:t>
            </a:r>
            <a:r>
              <a:rPr sz="2800" b="1" dirty="0">
                <a:solidFill>
                  <a:srgbClr val="232946"/>
                </a:solidFill>
                <a:latin typeface="Aptos"/>
              </a:rPr>
              <a:t>）</a:t>
            </a:r>
          </a:p>
        </p:txBody>
      </p:sp>
      <p:pic>
        <p:nvPicPr>
          <p:cNvPr id="3" name="Picture 2" descr="cross_recommen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981534"/>
            <a:ext cx="5577840" cy="33445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ounded Rectangle 3"/>
          <p:cNvSpPr/>
          <p:nvPr/>
        </p:nvSpPr>
        <p:spPr>
          <a:xfrm>
            <a:off x="901207" y="4494295"/>
            <a:ext cx="7531775" cy="225447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53946" y="4745277"/>
            <a:ext cx="6573185" cy="1746963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r>
              <a:rPr sz="1600" dirty="0">
                <a:solidFill>
                  <a:srgbClr val="3C3C3C"/>
                </a:solidFill>
                <a:latin typeface="Aptos"/>
              </a:rPr>
              <a:t>独立系ECサイトの60%は</a:t>
            </a:r>
            <a:r>
              <a:rPr lang="ja-JP" altLang="en-US" sz="1600" dirty="0">
                <a:solidFill>
                  <a:srgbClr val="3C3C3C"/>
                </a:solidFill>
                <a:latin typeface="Aptos"/>
              </a:rPr>
              <a:t>「</a:t>
            </a:r>
            <a:r>
              <a:rPr sz="1600" dirty="0" err="1">
                <a:solidFill>
                  <a:srgbClr val="3C3C3C"/>
                </a:solidFill>
                <a:latin typeface="Aptos"/>
              </a:rPr>
              <a:t>トップス</a:t>
            </a:r>
            <a:r>
              <a:rPr lang="ja-JP" altLang="en-US" sz="1600" dirty="0">
                <a:solidFill>
                  <a:srgbClr val="3C3C3C"/>
                </a:solidFill>
                <a:latin typeface="Aptos"/>
              </a:rPr>
              <a:t>」</a:t>
            </a:r>
            <a:r>
              <a:rPr sz="1600" dirty="0">
                <a:solidFill>
                  <a:srgbClr val="3C3C3C"/>
                </a:solidFill>
                <a:latin typeface="Aptos"/>
              </a:rPr>
              <a:t>
• </a:t>
            </a:r>
            <a:r>
              <a:rPr sz="1600" dirty="0" err="1">
                <a:solidFill>
                  <a:srgbClr val="3C3C3C"/>
                </a:solidFill>
                <a:latin typeface="Aptos"/>
              </a:rPr>
              <a:t>レコメンドも“トップス一色”になる</a:t>
            </a:r>
            <a:r>
              <a:rPr sz="1600" dirty="0">
                <a:solidFill>
                  <a:srgbClr val="3C3C3C"/>
                </a:solidFill>
                <a:latin typeface="Aptos"/>
              </a:rPr>
              <a:t>
• </a:t>
            </a:r>
            <a:r>
              <a:rPr sz="1600" dirty="0" err="1">
                <a:solidFill>
                  <a:srgbClr val="3C3C3C"/>
                </a:solidFill>
                <a:latin typeface="Aptos"/>
              </a:rPr>
              <a:t>顧客は『何を合わせればいいか』分からない</a:t>
            </a:r>
            <a:r>
              <a:rPr sz="1600" dirty="0">
                <a:solidFill>
                  <a:srgbClr val="3C3C3C"/>
                </a:solidFill>
                <a:latin typeface="Aptos"/>
              </a:rPr>
              <a:t>
• 「</a:t>
            </a:r>
            <a:r>
              <a:rPr sz="1600" dirty="0" err="1">
                <a:solidFill>
                  <a:srgbClr val="3C3C3C"/>
                </a:solidFill>
                <a:latin typeface="Aptos"/>
              </a:rPr>
              <a:t>似た商品」表示だけでは回遊が止まる</a:t>
            </a:r>
            <a:r>
              <a:rPr sz="1600" dirty="0">
                <a:solidFill>
                  <a:srgbClr val="3C3C3C"/>
                </a:solidFill>
                <a:latin typeface="Aptos"/>
              </a:rPr>
              <a:t>
• </a:t>
            </a:r>
            <a:r>
              <a:rPr sz="1600" dirty="0" err="1">
                <a:solidFill>
                  <a:srgbClr val="3C3C3C"/>
                </a:solidFill>
                <a:latin typeface="Aptos"/>
              </a:rPr>
              <a:t>結果として、セット購入機会を失っている</a:t>
            </a:r>
            <a:r>
              <a:rPr sz="1600" dirty="0">
                <a:solidFill>
                  <a:srgbClr val="3C3C3C"/>
                </a:solidFill>
                <a:latin typeface="Aptos"/>
              </a:rPr>
              <a:t>
</a:t>
            </a:r>
            <a:r>
              <a:rPr sz="1600" dirty="0" err="1">
                <a:solidFill>
                  <a:srgbClr val="3C3C3C"/>
                </a:solidFill>
                <a:latin typeface="Aptos"/>
              </a:rPr>
              <a:t>既存システムの限界</a:t>
            </a:r>
            <a:r>
              <a:rPr lang="en-US" sz="1600" dirty="0">
                <a:solidFill>
                  <a:srgbClr val="3C3C3C"/>
                </a:solidFill>
                <a:latin typeface="Aptos"/>
              </a:rPr>
              <a:t> : </a:t>
            </a:r>
            <a:r>
              <a:rPr sz="1600" dirty="0" err="1">
                <a:solidFill>
                  <a:srgbClr val="3C3C3C"/>
                </a:solidFill>
                <a:latin typeface="Aptos"/>
              </a:rPr>
              <a:t>エコーチェンバー型レコメンド</a:t>
            </a:r>
            <a:endParaRPr sz="1600" dirty="0">
              <a:solidFill>
                <a:srgbClr val="3C3C3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4788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32946"/>
                </a:solidFill>
                <a:latin typeface="Aptos"/>
              </a:rPr>
              <a:t>2. </a:t>
            </a:r>
            <a:r>
              <a:rPr sz="2800" b="1" dirty="0" err="1">
                <a:solidFill>
                  <a:srgbClr val="232946"/>
                </a:solidFill>
                <a:latin typeface="Aptos"/>
              </a:rPr>
              <a:t>解決策：StyleConcierge</a:t>
            </a:r>
            <a:endParaRPr sz="2800" b="1" dirty="0">
              <a:solidFill>
                <a:srgbClr val="232946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62455" y="1054575"/>
            <a:ext cx="7835462" cy="2359489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6775" y="1418712"/>
            <a:ext cx="700033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dirty="0">
                <a:solidFill>
                  <a:srgbClr val="3C3C3C"/>
                </a:solidFill>
                <a:latin typeface="Aptos"/>
              </a:rPr>
              <a:t>「</a:t>
            </a:r>
            <a:r>
              <a:rPr sz="2000" dirty="0" err="1">
                <a:solidFill>
                  <a:srgbClr val="3C3C3C"/>
                </a:solidFill>
                <a:latin typeface="Aptos"/>
              </a:rPr>
              <a:t>似たもの</a:t>
            </a:r>
            <a:r>
              <a:rPr lang="ja-JP" altLang="en-US" sz="2000" dirty="0">
                <a:solidFill>
                  <a:srgbClr val="3C3C3C"/>
                </a:solidFill>
                <a:latin typeface="Aptos"/>
              </a:rPr>
              <a:t>」</a:t>
            </a:r>
            <a:r>
              <a:rPr sz="2000" dirty="0" err="1">
                <a:solidFill>
                  <a:srgbClr val="3C3C3C"/>
                </a:solidFill>
                <a:latin typeface="Aptos"/>
              </a:rPr>
              <a:t>ではなく</a:t>
            </a:r>
            <a:r>
              <a:rPr sz="2000" dirty="0">
                <a:solidFill>
                  <a:srgbClr val="3C3C3C"/>
                </a:solidFill>
                <a:latin typeface="Aptos"/>
              </a:rPr>
              <a:t>
</a:t>
            </a:r>
            <a:r>
              <a:rPr lang="ja-JP" altLang="en-US" sz="2000" dirty="0">
                <a:solidFill>
                  <a:srgbClr val="3C3C3C"/>
                </a:solidFill>
                <a:latin typeface="Aptos"/>
              </a:rPr>
              <a:t>「</a:t>
            </a:r>
            <a:r>
              <a:rPr sz="2000" dirty="0" err="1">
                <a:solidFill>
                  <a:srgbClr val="3C3C3C"/>
                </a:solidFill>
                <a:latin typeface="Aptos"/>
              </a:rPr>
              <a:t>合うもの</a:t>
            </a:r>
            <a:r>
              <a:rPr lang="ja-JP" altLang="en-US" sz="2000" dirty="0">
                <a:solidFill>
                  <a:srgbClr val="3C3C3C"/>
                </a:solidFill>
                <a:latin typeface="Aptos"/>
              </a:rPr>
              <a:t>」</a:t>
            </a:r>
            <a:r>
              <a:rPr sz="2000" dirty="0" err="1">
                <a:solidFill>
                  <a:srgbClr val="3C3C3C"/>
                </a:solidFill>
                <a:latin typeface="Aptos"/>
              </a:rPr>
              <a:t>を提案</a:t>
            </a:r>
            <a:r>
              <a:rPr sz="2000" dirty="0">
                <a:solidFill>
                  <a:srgbClr val="3C3C3C"/>
                </a:solidFill>
                <a:latin typeface="Aptos"/>
              </a:rPr>
              <a:t>。
AIがアイテム同士の文脈を理解し、
</a:t>
            </a:r>
            <a:r>
              <a:rPr sz="2000" dirty="0" err="1">
                <a:solidFill>
                  <a:srgbClr val="3C3C3C"/>
                </a:solidFill>
                <a:latin typeface="Aptos"/>
              </a:rPr>
              <a:t>ブランド横断で最適な組み合わせを提示</a:t>
            </a:r>
            <a:r>
              <a:rPr sz="2000" dirty="0">
                <a:solidFill>
                  <a:srgbClr val="3C3C3C"/>
                </a:solidFill>
                <a:latin typeface="Aptos"/>
              </a:rPr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2455" y="3735496"/>
            <a:ext cx="7835462" cy="289560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6775" y="4192696"/>
            <a:ext cx="65982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 err="1">
                <a:solidFill>
                  <a:srgbClr val="3C3C3C"/>
                </a:solidFill>
                <a:latin typeface="Aptos"/>
              </a:rPr>
              <a:t>自由記述</a:t>
            </a:r>
            <a:r>
              <a:rPr sz="1800" dirty="0">
                <a:solidFill>
                  <a:srgbClr val="3C3C3C"/>
                </a:solidFill>
                <a:latin typeface="Aptos"/>
              </a:rPr>
              <a:t> × </a:t>
            </a:r>
            <a:r>
              <a:rPr sz="1800" dirty="0" err="1">
                <a:solidFill>
                  <a:srgbClr val="3C3C3C"/>
                </a:solidFill>
                <a:latin typeface="Aptos"/>
              </a:rPr>
              <a:t>タグ提示</a:t>
            </a:r>
            <a:r>
              <a:rPr sz="1800" dirty="0">
                <a:solidFill>
                  <a:srgbClr val="3C3C3C"/>
                </a:solidFill>
                <a:latin typeface="Aptos"/>
              </a:rPr>
              <a:t>
例</a:t>
            </a:r>
            <a:r>
              <a:rPr lang="en-US" sz="1800" dirty="0">
                <a:solidFill>
                  <a:srgbClr val="3C3C3C"/>
                </a:solidFill>
                <a:latin typeface="Aptos"/>
              </a:rPr>
              <a:t> : </a:t>
            </a:r>
            <a:r>
              <a:rPr sz="1800" dirty="0">
                <a:solidFill>
                  <a:srgbClr val="3C3C3C"/>
                </a:solidFill>
                <a:latin typeface="Aptos"/>
              </a:rPr>
              <a:t>『</a:t>
            </a:r>
            <a:r>
              <a:rPr sz="1800" dirty="0" err="1">
                <a:solidFill>
                  <a:srgbClr val="3C3C3C"/>
                </a:solidFill>
                <a:latin typeface="Aptos"/>
              </a:rPr>
              <a:t>ゆるめの白シャツに合うデニム</a:t>
            </a:r>
            <a:r>
              <a:rPr sz="1800" dirty="0">
                <a:solidFill>
                  <a:srgbClr val="3C3C3C"/>
                </a:solidFill>
                <a:latin typeface="Aptos"/>
              </a:rPr>
              <a:t>』
→ </a:t>
            </a:r>
            <a:r>
              <a:rPr sz="1800" dirty="0" err="1">
                <a:solidFill>
                  <a:srgbClr val="3C3C3C"/>
                </a:solidFill>
                <a:latin typeface="Aptos"/>
              </a:rPr>
              <a:t>AIが</a:t>
            </a:r>
            <a:r>
              <a:rPr lang="ja-JP" altLang="en-US" sz="1800" dirty="0">
                <a:solidFill>
                  <a:srgbClr val="3C3C3C"/>
                </a:solidFill>
                <a:latin typeface="Aptos"/>
              </a:rPr>
              <a:t>「</a:t>
            </a:r>
            <a:r>
              <a:rPr sz="1800" dirty="0" err="1">
                <a:solidFill>
                  <a:srgbClr val="3C3C3C"/>
                </a:solidFill>
                <a:latin typeface="Aptos"/>
              </a:rPr>
              <a:t>ワイド</a:t>
            </a:r>
            <a:r>
              <a:rPr lang="ja-JP" altLang="en-US" dirty="0">
                <a:solidFill>
                  <a:srgbClr val="3C3C3C"/>
                </a:solidFill>
                <a:latin typeface="Aptos"/>
              </a:rPr>
              <a:t>」「</a:t>
            </a:r>
            <a:r>
              <a:rPr sz="1800" dirty="0" err="1">
                <a:solidFill>
                  <a:srgbClr val="3C3C3C"/>
                </a:solidFill>
                <a:latin typeface="Aptos"/>
              </a:rPr>
              <a:t>淡色</a:t>
            </a:r>
            <a:r>
              <a:rPr lang="ja-JP" altLang="en-US" dirty="0">
                <a:solidFill>
                  <a:srgbClr val="3C3C3C"/>
                </a:solidFill>
                <a:latin typeface="Aptos"/>
              </a:rPr>
              <a:t>」「</a:t>
            </a:r>
            <a:r>
              <a:rPr sz="1800" dirty="0" err="1">
                <a:solidFill>
                  <a:srgbClr val="3C3C3C"/>
                </a:solidFill>
                <a:latin typeface="Aptos"/>
              </a:rPr>
              <a:t>ストレート</a:t>
            </a:r>
            <a:r>
              <a:rPr lang="ja-JP" altLang="en-US" dirty="0">
                <a:solidFill>
                  <a:srgbClr val="3C3C3C"/>
                </a:solidFill>
                <a:latin typeface="Aptos"/>
              </a:rPr>
              <a:t>」</a:t>
            </a:r>
            <a:r>
              <a:rPr sz="1800" dirty="0" err="1">
                <a:solidFill>
                  <a:srgbClr val="3C3C3C"/>
                </a:solidFill>
                <a:latin typeface="Aptos"/>
              </a:rPr>
              <a:t>などの適切なタグを提示しながら商品を発見</a:t>
            </a:r>
            <a:endParaRPr sz="1800" dirty="0">
              <a:solidFill>
                <a:srgbClr val="3C3C3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38846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32946"/>
                </a:solidFill>
                <a:latin typeface="Aptos"/>
              </a:rPr>
              <a:t>3. </a:t>
            </a:r>
            <a:r>
              <a:rPr sz="2800" b="1" dirty="0" err="1">
                <a:solidFill>
                  <a:srgbClr val="232946"/>
                </a:solidFill>
                <a:latin typeface="Aptos"/>
              </a:rPr>
              <a:t>導入効果の根拠</a:t>
            </a:r>
            <a:endParaRPr sz="2800" b="1" dirty="0">
              <a:solidFill>
                <a:srgbClr val="232946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2093297"/>
            <a:ext cx="2743200" cy="2743200"/>
          </a:xfrm>
          <a:prstGeom prst="roundRect">
            <a:avLst/>
          </a:prstGeom>
          <a:solidFill>
            <a:srgbClr val="5C7CFA"/>
          </a:solidFill>
          <a:ln>
            <a:solidFill>
              <a:srgbClr val="5C7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935902"/>
            <a:ext cx="2011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>
                <a:solidFill>
                  <a:srgbClr val="FFFFFF"/>
                </a:solidFill>
              </a:rPr>
              <a:t>15〜20%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 err="1"/>
              <a:t>客単価向上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790031" y="2606039"/>
            <a:ext cx="52120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solidFill>
                  <a:srgbClr val="3C3C3C"/>
                </a:solidFill>
                <a:latin typeface="Aptos"/>
              </a:rPr>
              <a:t>• </a:t>
            </a:r>
            <a:r>
              <a:rPr sz="1800" dirty="0" err="1">
                <a:solidFill>
                  <a:srgbClr val="3C3C3C"/>
                </a:solidFill>
                <a:latin typeface="Aptos"/>
              </a:rPr>
              <a:t>クロスカテゴリ提案によりセット購入を促進</a:t>
            </a:r>
            <a:r>
              <a:rPr sz="1800" dirty="0">
                <a:solidFill>
                  <a:srgbClr val="3C3C3C"/>
                </a:solidFill>
                <a:latin typeface="Aptos"/>
              </a:rPr>
              <a:t>
• </a:t>
            </a:r>
            <a:r>
              <a:rPr sz="1800" dirty="0" err="1">
                <a:solidFill>
                  <a:srgbClr val="3C3C3C"/>
                </a:solidFill>
                <a:latin typeface="Aptos"/>
              </a:rPr>
              <a:t>単品購入で終わる顧客を“コーデ買い”へ誘導</a:t>
            </a:r>
            <a:r>
              <a:rPr sz="1800" dirty="0">
                <a:solidFill>
                  <a:srgbClr val="3C3C3C"/>
                </a:solidFill>
                <a:latin typeface="Aptos"/>
              </a:rPr>
              <a:t>
• </a:t>
            </a:r>
            <a:r>
              <a:rPr sz="1800" dirty="0" err="1">
                <a:solidFill>
                  <a:srgbClr val="3C3C3C"/>
                </a:solidFill>
                <a:latin typeface="Aptos"/>
              </a:rPr>
              <a:t>自由度の高い検索体験により納得感が向上</a:t>
            </a:r>
            <a:r>
              <a:rPr sz="1800" dirty="0">
                <a:solidFill>
                  <a:srgbClr val="3C3C3C"/>
                </a:solidFill>
                <a:latin typeface="Aptos"/>
              </a:rPr>
              <a:t>
• </a:t>
            </a:r>
            <a:r>
              <a:rPr sz="1800" dirty="0" err="1">
                <a:solidFill>
                  <a:srgbClr val="3C3C3C"/>
                </a:solidFill>
                <a:latin typeface="Aptos"/>
              </a:rPr>
              <a:t>結果として返品率低下・リピート率向上</a:t>
            </a:r>
            <a:endParaRPr sz="1800" dirty="0">
              <a:solidFill>
                <a:srgbClr val="3C3C3C"/>
              </a:solidFill>
              <a:latin typeface="Aptos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E7ACE00-318C-3E3C-61CB-6FACE1B1C11C}"/>
              </a:ext>
            </a:extLst>
          </p:cNvPr>
          <p:cNvSpPr txBox="1"/>
          <p:nvPr/>
        </p:nvSpPr>
        <p:spPr>
          <a:xfrm>
            <a:off x="640081" y="5276193"/>
            <a:ext cx="8099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※Amazon</a:t>
            </a:r>
            <a:r>
              <a:rPr lang="ja-JP" altLang="en-US" dirty="0"/>
              <a:t>は売上の約</a:t>
            </a:r>
            <a:r>
              <a:rPr lang="en-US" altLang="ja-JP" dirty="0"/>
              <a:t>35%</a:t>
            </a:r>
            <a:r>
              <a:rPr lang="ja-JP" altLang="en-US" dirty="0"/>
              <a:t>がレコメンド経由と公表しており、</a:t>
            </a:r>
            <a:endParaRPr lang="en-US" altLang="ja-JP" dirty="0"/>
          </a:p>
          <a:p>
            <a:r>
              <a:rPr lang="ja-JP" altLang="en-US" dirty="0"/>
              <a:t>クロスカテゴリ提案の効果は業界的に実証されています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32946"/>
                </a:solidFill>
              </a:rPr>
              <a:t>4. 提案：リスクゼロの実証実験（PoC）の開始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47427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5C7CFA"/>
                </a:solidFill>
              </a:rPr>
              <a:t>1ヶ月の無償実証実験（PoC）のご提案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453101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 err="1">
                <a:solidFill>
                  <a:srgbClr val="3C3C3C"/>
                </a:solidFill>
              </a:rPr>
              <a:t>リスクゼロで「客単価向上」の効果を測定します</a:t>
            </a:r>
            <a:endParaRPr sz="1500" dirty="0">
              <a:solidFill>
                <a:srgbClr val="3C3C3C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21617" y="1828800"/>
            <a:ext cx="29260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5937" y="2148840"/>
            <a:ext cx="457200" cy="457200"/>
          </a:xfrm>
          <a:prstGeom prst="ellipse">
            <a:avLst/>
          </a:prstGeom>
          <a:solidFill>
            <a:srgbClr val="5C7CFA"/>
          </a:solidFill>
          <a:ln>
            <a:solidFill>
              <a:srgbClr val="5C7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6017" y="2130552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2946"/>
                </a:solidFill>
              </a:rPr>
              <a:t>① 設置</a:t>
            </a:r>
          </a:p>
          <a:p>
            <a:pPr>
              <a:defRPr sz="1100">
                <a:solidFill>
                  <a:srgbClr val="3C3C3C"/>
                </a:solidFill>
              </a:defRPr>
            </a:pPr>
            <a:r>
              <a:t>Shopifyへ5分で埋め込み</a:t>
            </a:r>
          </a:p>
        </p:txBody>
      </p:sp>
      <p:sp>
        <p:nvSpPr>
          <p:cNvPr id="8" name="Oval 7"/>
          <p:cNvSpPr/>
          <p:nvPr/>
        </p:nvSpPr>
        <p:spPr>
          <a:xfrm>
            <a:off x="595937" y="3063240"/>
            <a:ext cx="457200" cy="457200"/>
          </a:xfrm>
          <a:prstGeom prst="ellipse">
            <a:avLst/>
          </a:prstGeom>
          <a:solidFill>
            <a:srgbClr val="5C7CFA"/>
          </a:solidFill>
          <a:ln>
            <a:solidFill>
              <a:srgbClr val="5C7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6017" y="3044952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2946"/>
                </a:solidFill>
              </a:rPr>
              <a:t>② 測定</a:t>
            </a:r>
          </a:p>
          <a:p>
            <a:pPr>
              <a:defRPr sz="1100">
                <a:solidFill>
                  <a:srgbClr val="3C3C3C"/>
                </a:solidFill>
              </a:defRPr>
            </a:pPr>
            <a:r>
              <a:t>客単価・回遊率を比較</a:t>
            </a:r>
          </a:p>
        </p:txBody>
      </p:sp>
      <p:sp>
        <p:nvSpPr>
          <p:cNvPr id="10" name="Oval 9"/>
          <p:cNvSpPr/>
          <p:nvPr/>
        </p:nvSpPr>
        <p:spPr>
          <a:xfrm>
            <a:off x="595937" y="3977639"/>
            <a:ext cx="457200" cy="457200"/>
          </a:xfrm>
          <a:prstGeom prst="ellipse">
            <a:avLst/>
          </a:prstGeom>
          <a:solidFill>
            <a:srgbClr val="5C7CFA"/>
          </a:solidFill>
          <a:ln>
            <a:solidFill>
              <a:srgbClr val="5C7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6017" y="3959352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2946"/>
                </a:solidFill>
              </a:rPr>
              <a:t>③ 評価</a:t>
            </a:r>
          </a:p>
          <a:p>
            <a:pPr>
              <a:defRPr sz="1100">
                <a:solidFill>
                  <a:srgbClr val="3C3C3C"/>
                </a:solidFill>
              </a:defRPr>
            </a:pPr>
            <a:r>
              <a:t>成果をレポート化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2017" y="1828800"/>
            <a:ext cx="5522135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70325" y="2139185"/>
            <a:ext cx="4952058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/>
              <a:t>• </a:t>
            </a:r>
            <a:r>
              <a:rPr sz="1500" dirty="0" err="1"/>
              <a:t>導入コスト「ゼロ</a:t>
            </a:r>
            <a:r>
              <a:rPr sz="1500" dirty="0"/>
              <a:t>」
</a:t>
            </a:r>
            <a:r>
              <a:rPr sz="1500" dirty="0" err="1"/>
              <a:t>Shopifyのアプリ埋め込み機能を利用。</a:t>
            </a:r>
            <a:r>
              <a:rPr lang="en-US" altLang="ja-JP" sz="1600" dirty="0" err="1"/>
              <a:t>Shopify</a:t>
            </a:r>
            <a:r>
              <a:rPr lang="ja-JP" altLang="en-US" sz="1600" dirty="0"/>
              <a:t>・</a:t>
            </a:r>
            <a:r>
              <a:rPr lang="en-US" altLang="ja-JP" sz="1600" dirty="0"/>
              <a:t>BASE</a:t>
            </a:r>
            <a:r>
              <a:rPr lang="ja-JP" altLang="en-US" sz="1600" dirty="0"/>
              <a:t>対応のウィジェットを開発予定」</a:t>
            </a:r>
            <a:endParaRPr lang="en-US" altLang="ja-JP" sz="1600" dirty="0"/>
          </a:p>
          <a:p>
            <a:r>
              <a:rPr sz="1500" dirty="0"/>
              <a:t>
• データで語る1ヶ月
</a:t>
            </a:r>
            <a:r>
              <a:rPr sz="1500" dirty="0" err="1"/>
              <a:t>AI提案の表示・非表示グループを比較し</a:t>
            </a:r>
            <a:r>
              <a:rPr sz="1500" dirty="0"/>
              <a:t>、</a:t>
            </a:r>
            <a:r>
              <a:rPr lang="ja-JP" altLang="en-US" sz="1500" dirty="0"/>
              <a:t>「</a:t>
            </a:r>
            <a:r>
              <a:rPr sz="1500" dirty="0" err="1"/>
              <a:t>客単価</a:t>
            </a:r>
            <a:r>
              <a:rPr lang="ja-JP" altLang="en-US" sz="1500" dirty="0"/>
              <a:t>」「</a:t>
            </a:r>
            <a:r>
              <a:rPr sz="1500" dirty="0" err="1"/>
              <a:t>回遊率</a:t>
            </a:r>
            <a:r>
              <a:rPr lang="ja-JP" altLang="en-US" sz="1500" dirty="0"/>
              <a:t>」</a:t>
            </a:r>
            <a:r>
              <a:rPr sz="1500" dirty="0" err="1"/>
              <a:t>の差を定量レポート化</a:t>
            </a:r>
            <a:r>
              <a:rPr sz="1500" dirty="0"/>
              <a:t>。
• </a:t>
            </a:r>
            <a:r>
              <a:rPr sz="1500" dirty="0" err="1"/>
              <a:t>継続判断は成果次第</a:t>
            </a:r>
            <a:r>
              <a:rPr sz="1500" dirty="0"/>
              <a:t>
目標（客単価+15〜20%等）達成時のみ、本導入をご検討ください</a:t>
            </a:r>
            <a:r>
              <a:rPr lang="ja-JP" altLang="en-US" sz="1500" dirty="0"/>
              <a:t>。</a:t>
            </a:r>
            <a:endParaRPr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32946"/>
                </a:solidFill>
              </a:rPr>
              <a:t>5. 開発者プロフィール / ビジョン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679" y="1371600"/>
            <a:ext cx="2743200" cy="4803228"/>
          </a:xfrm>
          <a:prstGeom prst="roundRect">
            <a:avLst/>
          </a:prstGeom>
          <a:solidFill>
            <a:srgbClr val="E6EB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7599" y="28346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32946"/>
                </a:solidFill>
              </a:rPr>
              <a:t>Photo Placeholder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77536" y="1371600"/>
            <a:ext cx="5792464" cy="4803228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57538" y="1645920"/>
            <a:ext cx="5512463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3C3C3C"/>
                </a:solidFill>
              </a:rPr>
              <a:t>相坂 尚成 (Aisaka Hisanori)
■ </a:t>
            </a:r>
            <a:r>
              <a:rPr sz="1400" dirty="0" err="1">
                <a:solidFill>
                  <a:srgbClr val="3C3C3C"/>
                </a:solidFill>
              </a:rPr>
              <a:t>専門背景</a:t>
            </a:r>
            <a:r>
              <a:rPr sz="1400" dirty="0">
                <a:solidFill>
                  <a:srgbClr val="3C3C3C"/>
                </a:solidFill>
              </a:rPr>
              <a:t>
</a:t>
            </a:r>
            <a:r>
              <a:rPr sz="1400" dirty="0" err="1">
                <a:solidFill>
                  <a:srgbClr val="3C3C3C"/>
                </a:solidFill>
              </a:rPr>
              <a:t>東京理科大学にて情報工学・統計学を専攻</a:t>
            </a:r>
            <a:r>
              <a:rPr sz="1400" dirty="0">
                <a:solidFill>
                  <a:srgbClr val="3C3C3C"/>
                </a:solidFill>
              </a:rPr>
              <a:t>。
</a:t>
            </a:r>
            <a:r>
              <a:rPr sz="1400" dirty="0" err="1">
                <a:solidFill>
                  <a:srgbClr val="3C3C3C"/>
                </a:solidFill>
              </a:rPr>
              <a:t>データ分析に基づいた論理的なアルゴリズム構築を得意としています</a:t>
            </a:r>
            <a:r>
              <a:rPr sz="1400" dirty="0">
                <a:solidFill>
                  <a:srgbClr val="3C3C3C"/>
                </a:solidFill>
              </a:rPr>
              <a:t>。
■ </a:t>
            </a:r>
            <a:r>
              <a:rPr sz="1400" dirty="0" err="1">
                <a:solidFill>
                  <a:srgbClr val="3C3C3C"/>
                </a:solidFill>
              </a:rPr>
              <a:t>実務経験</a:t>
            </a:r>
            <a:r>
              <a:rPr sz="1400" dirty="0">
                <a:solidFill>
                  <a:srgbClr val="3C3C3C"/>
                </a:solidFill>
              </a:rPr>
              <a:t>
</a:t>
            </a:r>
            <a:r>
              <a:rPr sz="1400" dirty="0" err="1">
                <a:solidFill>
                  <a:srgbClr val="3C3C3C"/>
                </a:solidFill>
              </a:rPr>
              <a:t>大手IT企業（EPARK）でのインターンを通じ</a:t>
            </a:r>
            <a:r>
              <a:rPr sz="1400" dirty="0">
                <a:solidFill>
                  <a:srgbClr val="3C3C3C"/>
                </a:solidFill>
              </a:rPr>
              <a:t>、
</a:t>
            </a:r>
            <a:r>
              <a:rPr sz="1400" dirty="0" err="1">
                <a:solidFill>
                  <a:srgbClr val="3C3C3C"/>
                </a:solidFill>
              </a:rPr>
              <a:t>大規模サイト・アプリの機能改善を経験</a:t>
            </a:r>
            <a:r>
              <a:rPr sz="1400" dirty="0">
                <a:solidFill>
                  <a:srgbClr val="3C3C3C"/>
                </a:solidFill>
              </a:rPr>
              <a:t>。
『</a:t>
            </a:r>
            <a:r>
              <a:rPr sz="1400" dirty="0" err="1">
                <a:solidFill>
                  <a:srgbClr val="3C3C3C"/>
                </a:solidFill>
              </a:rPr>
              <a:t>使いやすさ』と『売上向上』の両立を学びました</a:t>
            </a:r>
            <a:r>
              <a:rPr sz="1400" dirty="0">
                <a:solidFill>
                  <a:srgbClr val="3C3C3C"/>
                </a:solidFill>
              </a:rPr>
              <a:t>。
■ </a:t>
            </a:r>
            <a:r>
              <a:rPr sz="1400" dirty="0" err="1">
                <a:solidFill>
                  <a:srgbClr val="3C3C3C"/>
                </a:solidFill>
              </a:rPr>
              <a:t>ビジョン</a:t>
            </a:r>
            <a:r>
              <a:rPr sz="1400" dirty="0">
                <a:solidFill>
                  <a:srgbClr val="3C3C3C"/>
                </a:solidFill>
              </a:rPr>
              <a:t>
『</a:t>
            </a:r>
            <a:r>
              <a:rPr sz="1400" dirty="0" err="1">
                <a:solidFill>
                  <a:srgbClr val="3C3C3C"/>
                </a:solidFill>
              </a:rPr>
              <a:t>最高の一着』を『最高の一揃い』へ</a:t>
            </a:r>
            <a:r>
              <a:rPr sz="1400" dirty="0">
                <a:solidFill>
                  <a:srgbClr val="3C3C3C"/>
                </a:solidFill>
              </a:rPr>
              <a:t>。
</a:t>
            </a:r>
            <a:r>
              <a:rPr sz="1400" dirty="0" err="1">
                <a:solidFill>
                  <a:srgbClr val="3C3C3C"/>
                </a:solidFill>
              </a:rPr>
              <a:t>セレクトショップの“目利き”をデジタルで最大化します</a:t>
            </a:r>
            <a:r>
              <a:rPr sz="1400" dirty="0">
                <a:solidFill>
                  <a:srgbClr val="3C3C3C"/>
                </a:solidFill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7538" y="5488395"/>
            <a:ext cx="5201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5C7CFA"/>
                </a:solidFill>
              </a:rPr>
              <a:t>「</a:t>
            </a:r>
            <a:r>
              <a:rPr sz="1800" b="1" dirty="0" err="1">
                <a:solidFill>
                  <a:srgbClr val="5C7CFA"/>
                </a:solidFill>
              </a:rPr>
              <a:t>ファッションの可能性を、AIで拡張する</a:t>
            </a:r>
            <a:r>
              <a:rPr sz="1800" b="1" dirty="0">
                <a:solidFill>
                  <a:srgbClr val="5C7CFA"/>
                </a:solidFill>
              </a:rPr>
              <a:t>。」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333</Words>
  <Application>Microsoft Office PowerPoint</Application>
  <PresentationFormat>画面に合わせる (4:3)</PresentationFormat>
  <Paragraphs>29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尚成 相坂</cp:lastModifiedBy>
  <cp:revision>6</cp:revision>
  <dcterms:created xsi:type="dcterms:W3CDTF">2013-01-27T09:14:16Z</dcterms:created>
  <dcterms:modified xsi:type="dcterms:W3CDTF">2026-05-16T07:15:35Z</dcterms:modified>
  <cp:category/>
</cp:coreProperties>
</file>